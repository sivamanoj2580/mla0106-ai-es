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3" name="Shape 19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8;g36bc379c7b1_10_57" descr="Google Shape;8;g36bc379c7b1_10_57"/>
          <p:cNvPicPr>
            <a:picLocks noChangeAspect="1"/>
          </p:cNvPicPr>
          <p:nvPr/>
        </p:nvPicPr>
        <p:blipFill>
          <a:blip r:embed="rId2">
            <a:extLst/>
          </a:blip>
          <a:srcRect l="0" t="388" r="85220" b="387"/>
          <a:stretch>
            <a:fillRect/>
          </a:stretch>
        </p:blipFill>
        <p:spPr>
          <a:xfrm>
            <a:off x="67788" y="52175"/>
            <a:ext cx="1490828" cy="180124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" name="Google Shape;9;g36bc379c7b1_10_57" descr="Google Shape;9;g36bc379c7b1_10_57"/>
          <p:cNvPicPr>
            <a:picLocks noChangeAspect="1"/>
          </p:cNvPicPr>
          <p:nvPr/>
        </p:nvPicPr>
        <p:blipFill>
          <a:blip r:embed="rId3">
            <a:extLst/>
          </a:blip>
          <a:srcRect l="50059" t="0" r="33607" b="0"/>
          <a:stretch>
            <a:fillRect/>
          </a:stretch>
        </p:blipFill>
        <p:spPr>
          <a:xfrm>
            <a:off x="22617502" y="39476"/>
            <a:ext cx="1658037" cy="1826984"/>
          </a:xfrm>
          <a:prstGeom prst="rect">
            <a:avLst/>
          </a:prstGeom>
          <a:ln w="12700">
            <a:miter lim="400000"/>
          </a:ln>
        </p:spPr>
      </p:pic>
      <p:sp>
        <p:nvSpPr>
          <p:cNvPr id="171" name="Title Text"/>
          <p:cNvSpPr txBox="1"/>
          <p:nvPr>
            <p:ph type="title"/>
          </p:nvPr>
        </p:nvSpPr>
        <p:spPr>
          <a:xfrm>
            <a:off x="1206500" y="1079500"/>
            <a:ext cx="21971101" cy="1433101"/>
          </a:xfrm>
          <a:prstGeom prst="rect">
            <a:avLst/>
          </a:prstGeom>
        </p:spPr>
        <p:txBody>
          <a:bodyPr/>
          <a:lstStyle>
            <a:lvl1pPr defTabSz="914400">
              <a:defRPr spc="0"/>
            </a:lvl1pPr>
          </a:lstStyle>
          <a:p>
            <a:pPr/>
            <a:r>
              <a:t>Title Text</a:t>
            </a:r>
          </a:p>
        </p:txBody>
      </p:sp>
      <p:sp>
        <p:nvSpPr>
          <p:cNvPr id="172" name="Body Level One…"/>
          <p:cNvSpPr txBox="1"/>
          <p:nvPr>
            <p:ph type="body" sz="quarter" idx="1"/>
          </p:nvPr>
        </p:nvSpPr>
        <p:spPr>
          <a:xfrm>
            <a:off x="1206500" y="2372960"/>
            <a:ext cx="21971101" cy="934802"/>
          </a:xfrm>
          <a:prstGeom prst="rect">
            <a:avLst/>
          </a:prstGeom>
        </p:spPr>
        <p:txBody>
          <a:bodyPr lIns="45699" tIns="45699" rIns="45699" bIns="45699"/>
          <a:lstStyle>
            <a:lvl1pPr marL="0" indent="228600" defTabSz="9144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968240" indent="-423029" defTabSz="914400">
              <a:lnSpc>
                <a:spcPct val="100000"/>
              </a:lnSpc>
              <a:spcBef>
                <a:spcPts val="0"/>
              </a:spcBef>
              <a:buSzPts val="5500"/>
              <a:defRPr b="1" sz="5500"/>
            </a:lvl2pPr>
            <a:lvl3pPr marL="1425440" indent="-423029" defTabSz="914400">
              <a:lnSpc>
                <a:spcPct val="100000"/>
              </a:lnSpc>
              <a:spcBef>
                <a:spcPts val="0"/>
              </a:spcBef>
              <a:buSzPts val="5500"/>
              <a:defRPr b="1" sz="5500"/>
            </a:lvl3pPr>
            <a:lvl4pPr marL="1882639" indent="-423029" defTabSz="914400">
              <a:lnSpc>
                <a:spcPct val="100000"/>
              </a:lnSpc>
              <a:spcBef>
                <a:spcPts val="0"/>
              </a:spcBef>
              <a:buSzPts val="5500"/>
              <a:defRPr b="1" sz="5500"/>
            </a:lvl4pPr>
            <a:lvl5pPr marL="2339839" indent="-423029" defTabSz="914400">
              <a:lnSpc>
                <a:spcPct val="100000"/>
              </a:lnSpc>
              <a:spcBef>
                <a:spcPts val="0"/>
              </a:spcBef>
              <a:buSzPts val="5500"/>
              <a:defRPr b="1" sz="55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3" name="Google Shape;21;g36bc379c7b1_10_70"/>
          <p:cNvSpPr txBox="1"/>
          <p:nvPr>
            <p:ph type="body" idx="21"/>
          </p:nvPr>
        </p:nvSpPr>
        <p:spPr>
          <a:xfrm>
            <a:off x="1206498" y="4248503"/>
            <a:ext cx="21971104" cy="8256001"/>
          </a:xfrm>
          <a:prstGeom prst="rect">
            <a:avLst/>
          </a:prstGeom>
        </p:spPr>
        <p:txBody>
          <a:bodyPr/>
          <a:lstStyle/>
          <a:p>
            <a:pPr marL="457200" indent="-369188" defTabSz="914400">
              <a:buClr>
                <a:srgbClr val="000000"/>
              </a:buClr>
              <a:buSzPts val="4800"/>
              <a:buFont typeface="Helvetica Neue"/>
            </a:pPr>
          </a:p>
        </p:txBody>
      </p:sp>
      <p:sp>
        <p:nvSpPr>
          <p:cNvPr id="174" name="Slide Number"/>
          <p:cNvSpPr txBox="1"/>
          <p:nvPr>
            <p:ph type="sldNum" sz="quarter" idx="2"/>
          </p:nvPr>
        </p:nvSpPr>
        <p:spPr>
          <a:xfrm>
            <a:off x="12001448" y="13086200"/>
            <a:ext cx="368504" cy="374601"/>
          </a:xfrm>
          <a:prstGeom prst="rect">
            <a:avLst/>
          </a:prstGeom>
        </p:spPr>
        <p:txBody>
          <a:bodyPr/>
          <a:lstStyle>
            <a:lvl1pPr defTabSz="914400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Body Level One…"/>
          <p:cNvSpPr txBox="1"/>
          <p:nvPr>
            <p:ph type="body" sz="quarter" idx="1"/>
          </p:nvPr>
        </p:nvSpPr>
        <p:spPr>
          <a:xfrm>
            <a:off x="1201340" y="11859862"/>
            <a:ext cx="21971101" cy="636902"/>
          </a:xfrm>
          <a:prstGeom prst="rect">
            <a:avLst/>
          </a:prstGeom>
        </p:spPr>
        <p:txBody>
          <a:bodyPr lIns="45699" tIns="45699" rIns="45699" bIns="45699"/>
          <a:lstStyle>
            <a:lvl1pPr marL="0" indent="228600" defTabSz="9144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822101" indent="-276890" defTabSz="914400">
              <a:lnSpc>
                <a:spcPct val="100000"/>
              </a:lnSpc>
              <a:spcBef>
                <a:spcPts val="0"/>
              </a:spcBef>
              <a:buSzPts val="3600"/>
              <a:defRPr b="1" sz="3600"/>
            </a:lvl2pPr>
            <a:lvl3pPr marL="1279301" indent="-276891" defTabSz="914400">
              <a:lnSpc>
                <a:spcPct val="100000"/>
              </a:lnSpc>
              <a:spcBef>
                <a:spcPts val="0"/>
              </a:spcBef>
              <a:buSzPts val="3600"/>
              <a:defRPr b="1" sz="3600"/>
            </a:lvl3pPr>
            <a:lvl4pPr marL="1736501" indent="-276891" defTabSz="914400">
              <a:lnSpc>
                <a:spcPct val="100000"/>
              </a:lnSpc>
              <a:spcBef>
                <a:spcPts val="0"/>
              </a:spcBef>
              <a:buSzPts val="3600"/>
              <a:defRPr b="1" sz="3600"/>
            </a:lvl4pPr>
            <a:lvl5pPr marL="2193701" indent="-276891" defTabSz="914400">
              <a:lnSpc>
                <a:spcPct val="100000"/>
              </a:lnSpc>
              <a:spcBef>
                <a:spcPts val="0"/>
              </a:spcBef>
              <a:buSzPts val="3600"/>
              <a:defRPr b="1" sz="3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2" name="Title Text"/>
          <p:cNvSpPr txBox="1"/>
          <p:nvPr>
            <p:ph type="title"/>
          </p:nvPr>
        </p:nvSpPr>
        <p:spPr>
          <a:xfrm>
            <a:off x="1206496" y="2574991"/>
            <a:ext cx="21971101" cy="4648202"/>
          </a:xfrm>
          <a:prstGeom prst="rect">
            <a:avLst/>
          </a:prstGeom>
        </p:spPr>
        <p:txBody>
          <a:bodyPr anchor="b"/>
          <a:lstStyle>
            <a:lvl1pPr defTabSz="914400">
              <a:defRPr spc="0" sz="11600"/>
            </a:lvl1pPr>
          </a:lstStyle>
          <a:p>
            <a:pPr/>
            <a:r>
              <a:t>Title Text</a:t>
            </a:r>
          </a:p>
        </p:txBody>
      </p:sp>
      <p:sp>
        <p:nvSpPr>
          <p:cNvPr id="183" name="Google Shape;14;g36bc379c7b1_10_63"/>
          <p:cNvSpPr txBox="1"/>
          <p:nvPr>
            <p:ph type="body" sz="quarter" idx="21"/>
          </p:nvPr>
        </p:nvSpPr>
        <p:spPr>
          <a:xfrm>
            <a:off x="1201340" y="7223190"/>
            <a:ext cx="21971104" cy="1905002"/>
          </a:xfrm>
          <a:prstGeom prst="rect">
            <a:avLst/>
          </a:prstGeom>
        </p:spPr>
        <p:txBody>
          <a:bodyPr/>
          <a:lstStyle/>
          <a:p>
            <a:pPr marL="457200" indent="-369188" defTabSz="914400">
              <a:buClr>
                <a:srgbClr val="000000"/>
              </a:buClr>
              <a:buSzPts val="4800"/>
              <a:buFont typeface="Helvetica Neue"/>
            </a:pPr>
          </a:p>
        </p:txBody>
      </p:sp>
      <p:pic>
        <p:nvPicPr>
          <p:cNvPr id="184" name="Google Shape;15;g36bc379c7b1_10_63" descr="Google Shape;15;g36bc379c7b1_10_63"/>
          <p:cNvPicPr>
            <a:picLocks noChangeAspect="1"/>
          </p:cNvPicPr>
          <p:nvPr/>
        </p:nvPicPr>
        <p:blipFill>
          <a:blip r:embed="rId2">
            <a:extLst/>
          </a:blip>
          <a:srcRect l="0" t="388" r="85449" b="9055"/>
          <a:stretch>
            <a:fillRect/>
          </a:stretch>
        </p:blipFill>
        <p:spPr>
          <a:xfrm>
            <a:off x="153720" y="-43901"/>
            <a:ext cx="1996584" cy="22362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" name="Google Shape;16;g36bc379c7b1_10_63" descr="Google Shape;16;g36bc379c7b1_10_63"/>
          <p:cNvPicPr>
            <a:picLocks noChangeAspect="1"/>
          </p:cNvPicPr>
          <p:nvPr/>
        </p:nvPicPr>
        <p:blipFill>
          <a:blip r:embed="rId2">
            <a:extLst/>
          </a:blip>
          <a:srcRect l="50059" t="0" r="34355" b="9674"/>
          <a:stretch>
            <a:fillRect/>
          </a:stretch>
        </p:blipFill>
        <p:spPr>
          <a:xfrm>
            <a:off x="22190184" y="213869"/>
            <a:ext cx="1649697" cy="1720658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Slide Number"/>
          <p:cNvSpPr txBox="1"/>
          <p:nvPr>
            <p:ph type="sldNum" sz="quarter" idx="2"/>
          </p:nvPr>
        </p:nvSpPr>
        <p:spPr>
          <a:xfrm>
            <a:off x="12001448" y="13086200"/>
            <a:ext cx="368504" cy="374601"/>
          </a:xfrm>
          <a:prstGeom prst="rect">
            <a:avLst/>
          </a:prstGeom>
        </p:spPr>
        <p:txBody>
          <a:bodyPr/>
          <a:lstStyle>
            <a:lvl1pPr defTabSz="914400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90;g36bc379c7b1_0_551"/>
          <p:cNvSpPr txBox="1"/>
          <p:nvPr>
            <p:ph type="body" sz="quarter" idx="1"/>
          </p:nvPr>
        </p:nvSpPr>
        <p:spPr>
          <a:xfrm>
            <a:off x="13927405" y="7605841"/>
            <a:ext cx="8534102" cy="3133202"/>
          </a:xfrm>
          <a:prstGeom prst="rect">
            <a:avLst/>
          </a:prstGeom>
        </p:spPr>
        <p:txBody>
          <a:bodyPr/>
          <a:lstStyle/>
          <a:p>
            <a:pPr indent="0" algn="ctr">
              <a:defRPr sz="4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Supervisor</a:t>
            </a:r>
          </a:p>
          <a:p>
            <a:pPr indent="0" algn="ctr" defTabSz="457200">
              <a:lnSpc>
                <a:spcPct val="107916"/>
              </a:lnSpc>
              <a:spcBef>
                <a:spcPts val="800"/>
              </a:spcBef>
              <a:defRPr sz="4400"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Dr M. Prakash,</a:t>
            </a:r>
          </a:p>
          <a:p>
            <a:pPr indent="0" algn="ctr">
              <a:defRPr sz="4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Dr Logu,</a:t>
            </a:r>
          </a:p>
          <a:p>
            <a:pPr indent="0" algn="ctr">
              <a:defRPr sz="4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SIMATS Engineering</a:t>
            </a:r>
          </a:p>
        </p:txBody>
      </p:sp>
      <p:sp>
        <p:nvSpPr>
          <p:cNvPr id="196" name="Google Shape;91;g36bc379c7b1_0_551"/>
          <p:cNvSpPr txBox="1"/>
          <p:nvPr>
            <p:ph type="title"/>
          </p:nvPr>
        </p:nvSpPr>
        <p:spPr>
          <a:xfrm>
            <a:off x="1206494" y="3622666"/>
            <a:ext cx="21971104" cy="2553002"/>
          </a:xfrm>
          <a:prstGeom prst="rect">
            <a:avLst/>
          </a:prstGeom>
          <a:effectLst>
            <a:outerShdw sx="100000" sy="100000" kx="0" ky="0" algn="b" rotWithShape="0" blurRad="63500" dist="19050" dir="5400000">
              <a:srgbClr val="000000">
                <a:alpha val="50000"/>
              </a:srgbClr>
            </a:outerShdw>
          </a:effectLst>
        </p:spPr>
        <p:txBody>
          <a:bodyPr anchor="ctr"/>
          <a:lstStyle>
            <a:lvl1pPr algn="ctr" defTabSz="704087">
              <a:defRPr sz="8800">
                <a:solidFill>
                  <a:schemeClr val="accent1"/>
                </a:solidFill>
              </a:defRPr>
            </a:lvl1pPr>
          </a:lstStyle>
          <a:p>
            <a:pPr/>
            <a:r>
              <a:t>Produt size and Shape Evaluator Using Vision Intelligent Systems</a:t>
            </a:r>
          </a:p>
        </p:txBody>
      </p:sp>
      <p:sp>
        <p:nvSpPr>
          <p:cNvPr id="197" name="Google Shape;93;g36bc379c7b1_0_551"/>
          <p:cNvSpPr txBox="1"/>
          <p:nvPr>
            <p:ph type="sldNum" sz="quarter" idx="4294967295"/>
          </p:nvPr>
        </p:nvSpPr>
        <p:spPr>
          <a:xfrm>
            <a:off x="12065098" y="13086200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14400"/>
          </a:lstStyle>
          <a:p>
            <a:pPr/>
            <a:fld id="{86CB4B4D-7CA3-9044-876B-883B54F8677D}" type="slidenum"/>
          </a:p>
        </p:txBody>
      </p:sp>
      <p:sp>
        <p:nvSpPr>
          <p:cNvPr id="198" name="Google Shape;94;g36bc379c7b1_0_551"/>
          <p:cNvSpPr txBox="1"/>
          <p:nvPr/>
        </p:nvSpPr>
        <p:spPr>
          <a:xfrm>
            <a:off x="2245560" y="7605841"/>
            <a:ext cx="9101698" cy="4299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914400">
              <a:lnSpc>
                <a:spcPct val="100000"/>
              </a:lnSpc>
              <a:spcBef>
                <a:spcPts val="1000"/>
              </a:spcBef>
              <a:defRPr b="1" sz="4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M.kousik reddy(192425185)</a:t>
            </a:r>
          </a:p>
          <a:p>
            <a:pPr defTabSz="914400">
              <a:lnSpc>
                <a:spcPct val="100000"/>
              </a:lnSpc>
              <a:spcBef>
                <a:spcPts val="1000"/>
              </a:spcBef>
              <a:defRPr b="1" sz="4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M. Phanith Chandu(192425238)</a:t>
            </a:r>
          </a:p>
          <a:p>
            <a:pPr defTabSz="914400">
              <a:lnSpc>
                <a:spcPct val="100000"/>
              </a:lnSpc>
              <a:spcBef>
                <a:spcPts val="1000"/>
              </a:spcBef>
              <a:defRPr b="1" sz="4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T. Bhanu Pavan Varma(192425380)</a:t>
            </a:r>
          </a:p>
          <a:p>
            <a:pPr defTabSz="914400">
              <a:lnSpc>
                <a:spcPct val="100000"/>
              </a:lnSpc>
              <a:spcBef>
                <a:spcPts val="1000"/>
              </a:spcBef>
              <a:defRPr b="1" sz="4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M. Harinath(192425020)</a:t>
            </a:r>
          </a:p>
          <a:p>
            <a:pPr defTabSz="914400">
              <a:lnSpc>
                <a:spcPct val="100000"/>
              </a:lnSpc>
              <a:spcBef>
                <a:spcPts val="1000"/>
              </a:spcBef>
              <a:defRPr b="1" sz="4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U.Chenna kesava reddy(192425206)</a:t>
            </a:r>
          </a:p>
        </p:txBody>
      </p:sp>
      <p:sp>
        <p:nvSpPr>
          <p:cNvPr id="199" name="Google Shape;95;g36bc379c7b1_0_551"/>
          <p:cNvSpPr txBox="1"/>
          <p:nvPr/>
        </p:nvSpPr>
        <p:spPr>
          <a:xfrm>
            <a:off x="1206496" y="1280070"/>
            <a:ext cx="21971104" cy="25530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63500" dist="1905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 algn="ctr" defTabSz="914400">
              <a:lnSpc>
                <a:spcPct val="80000"/>
              </a:lnSpc>
              <a:spcBef>
                <a:spcPts val="0"/>
              </a:spcBef>
              <a:defRPr b="1" sz="5600">
                <a:solidFill>
                  <a:srgbClr val="EB220C"/>
                </a:solidFill>
              </a:defRPr>
            </a:pPr>
            <a:r>
              <a:t>SIMATS ENGINEERING</a:t>
            </a:r>
            <a:br/>
            <a:r>
              <a:t>Saveetha Institute of Medical and Technical Sciences</a:t>
            </a:r>
            <a:br/>
            <a:r>
              <a:t>Chennai-602105.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100;g36bc379c7b1_0_560"/>
          <p:cNvSpPr txBox="1"/>
          <p:nvPr>
            <p:ph type="title"/>
          </p:nvPr>
        </p:nvSpPr>
        <p:spPr>
          <a:xfrm>
            <a:off x="1206498" y="1079500"/>
            <a:ext cx="21971104" cy="1433101"/>
          </a:xfrm>
          <a:prstGeom prst="rect">
            <a:avLst/>
          </a:prstGeom>
        </p:spPr>
        <p:txBody>
          <a:bodyPr/>
          <a:lstStyle/>
          <a:p>
            <a:pPr/>
            <a:r>
              <a:t>Introduction</a:t>
            </a:r>
          </a:p>
        </p:txBody>
      </p:sp>
      <p:sp>
        <p:nvSpPr>
          <p:cNvPr id="202" name="Google Shape;101;g36bc379c7b1_0_560"/>
          <p:cNvSpPr txBox="1"/>
          <p:nvPr>
            <p:ph type="body" idx="1"/>
          </p:nvPr>
        </p:nvSpPr>
        <p:spPr>
          <a:xfrm>
            <a:off x="1206448" y="2730000"/>
            <a:ext cx="21154564" cy="8422522"/>
          </a:xfrm>
          <a:prstGeom prst="rect">
            <a:avLst/>
          </a:prstGeom>
        </p:spPr>
        <p:txBody>
          <a:bodyPr lIns="50800" tIns="50800" rIns="50800" bIns="50800"/>
          <a:lstStyle/>
          <a:p>
            <a:pPr indent="0" defTabSz="452627">
              <a:spcBef>
                <a:spcPts val="1100"/>
              </a:spcBef>
              <a:defRPr b="0" sz="47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452627" indent="-314325" defTabSz="452627">
              <a:spcBef>
                <a:spcPts val="1100"/>
              </a:spcBef>
              <a:buSzPct val="100000"/>
              <a:buFont typeface="Times Roman"/>
              <a:buChar char="•"/>
              <a:defRPr b="0" sz="4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industries, checking the </a:t>
            </a:r>
            <a:r>
              <a:rPr b="1"/>
              <a:t>size and shape of products</a:t>
            </a:r>
            <a:r>
              <a:t> is important to maintain quality.</a:t>
            </a:r>
          </a:p>
          <a:p>
            <a:pPr marL="452627" indent="-314325" defTabSz="452627">
              <a:spcBef>
                <a:spcPts val="1100"/>
              </a:spcBef>
              <a:buSzPct val="100000"/>
              <a:buFont typeface="Times Roman"/>
              <a:buChar char="•"/>
              <a:defRPr b="0" sz="4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Manual inspection takes more time and may cause errors.</a:t>
            </a:r>
          </a:p>
          <a:p>
            <a:pPr marL="452627" indent="-314325" defTabSz="452627">
              <a:spcBef>
                <a:spcPts val="1100"/>
              </a:spcBef>
              <a:buSzPct val="100000"/>
              <a:buFont typeface="Times Roman"/>
              <a:buChar char="•"/>
              <a:defRPr b="0" sz="4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project uses a </a:t>
            </a:r>
            <a:r>
              <a:rPr b="1"/>
              <a:t>camera and image processing</a:t>
            </a:r>
            <a:r>
              <a:t> to automatically evaluate products.</a:t>
            </a:r>
          </a:p>
          <a:p>
            <a:pPr marL="452627" indent="-314325" defTabSz="452627">
              <a:spcBef>
                <a:spcPts val="1100"/>
              </a:spcBef>
              <a:buSzPct val="100000"/>
              <a:buFont typeface="Times Roman"/>
              <a:buChar char="•"/>
              <a:defRPr b="0" sz="4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system captures an image and measures dimensions and detects shape.</a:t>
            </a:r>
          </a:p>
          <a:p>
            <a:pPr marL="452627" indent="-314325" defTabSz="452627">
              <a:spcBef>
                <a:spcPts val="1100"/>
              </a:spcBef>
              <a:buSzPct val="100000"/>
              <a:buFont typeface="Times Roman"/>
              <a:buChar char="•"/>
              <a:defRPr b="0" sz="4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helps to identify defective or incorrect products quickly.</a:t>
            </a:r>
          </a:p>
          <a:p>
            <a:pPr marL="452627" indent="-314325" defTabSz="452627">
              <a:spcBef>
                <a:spcPts val="1100"/>
              </a:spcBef>
              <a:buSzPct val="100000"/>
              <a:buFont typeface="Times Roman"/>
              <a:buChar char="•"/>
              <a:defRPr b="0" sz="47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method is fast, accurate, and useful for quality control in manufacturing industries.</a:t>
            </a:r>
          </a:p>
        </p:txBody>
      </p:sp>
      <p:sp>
        <p:nvSpPr>
          <p:cNvPr id="203" name="Google Shape;102;g36bc379c7b1_0_560"/>
          <p:cNvSpPr txBox="1"/>
          <p:nvPr>
            <p:ph type="sldNum" sz="quarter" idx="4294967295"/>
          </p:nvPr>
        </p:nvSpPr>
        <p:spPr>
          <a:xfrm>
            <a:off x="12065098" y="13086200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14400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107;g36bc379c7b1_0_566"/>
          <p:cNvSpPr txBox="1"/>
          <p:nvPr>
            <p:ph type="title"/>
          </p:nvPr>
        </p:nvSpPr>
        <p:spPr>
          <a:xfrm>
            <a:off x="1206498" y="1079500"/>
            <a:ext cx="21971104" cy="1433101"/>
          </a:xfrm>
          <a:prstGeom prst="rect">
            <a:avLst/>
          </a:prstGeom>
        </p:spPr>
        <p:txBody>
          <a:bodyPr/>
          <a:lstStyle/>
          <a:p>
            <a:pPr/>
            <a:r>
              <a:t>Problem Statement</a:t>
            </a:r>
          </a:p>
        </p:txBody>
      </p:sp>
      <p:sp>
        <p:nvSpPr>
          <p:cNvPr id="206" name="Google Shape;108;g36bc379c7b1_0_566"/>
          <p:cNvSpPr txBox="1"/>
          <p:nvPr>
            <p:ph type="body" idx="1"/>
          </p:nvPr>
        </p:nvSpPr>
        <p:spPr>
          <a:xfrm>
            <a:off x="1543115" y="3301053"/>
            <a:ext cx="21297770" cy="8256001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566927" indent="-566927" algn="just" defTabSz="425195">
              <a:lnSpc>
                <a:spcPct val="150000"/>
              </a:lnSpc>
              <a:spcBef>
                <a:spcPts val="1100"/>
              </a:spcBef>
              <a:buSzPct val="123000"/>
              <a:buChar char="•"/>
              <a:defRPr b="0" sz="4464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 many industries, product inspection is done </a:t>
            </a:r>
            <a:r>
              <a:rPr b="1"/>
              <a:t>manually</a:t>
            </a:r>
            <a:r>
              <a:t>, which is time-consuming and less accurate.</a:t>
            </a:r>
          </a:p>
          <a:p>
            <a:pPr marL="566927" indent="-566927" algn="just" defTabSz="425195">
              <a:lnSpc>
                <a:spcPct val="150000"/>
              </a:lnSpc>
              <a:spcBef>
                <a:spcPts val="1100"/>
              </a:spcBef>
              <a:buSzPct val="123000"/>
              <a:buChar char="•"/>
              <a:defRPr sz="4464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/>
              <a:t>Human inspection may lead to </a:t>
            </a:r>
            <a:r>
              <a:t>errors in measuring size and identifying shapes</a:t>
            </a:r>
            <a:r>
              <a:rPr b="0"/>
              <a:t>.</a:t>
            </a:r>
            <a:endParaRPr b="0"/>
          </a:p>
          <a:p>
            <a:pPr marL="566927" indent="-566927" algn="just" defTabSz="425195">
              <a:lnSpc>
                <a:spcPct val="150000"/>
              </a:lnSpc>
              <a:spcBef>
                <a:spcPts val="1100"/>
              </a:spcBef>
              <a:buSzPct val="123000"/>
              <a:buChar char="•"/>
              <a:defRPr sz="4464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/>
              <a:t>There is a need for a system that can </a:t>
            </a:r>
            <a:r>
              <a:t>automatically measure product dimensions</a:t>
            </a:r>
            <a:r>
              <a:rPr b="0"/>
              <a:t> with good accuracy.</a:t>
            </a:r>
            <a:endParaRPr b="0"/>
          </a:p>
          <a:p>
            <a:pPr marL="566927" indent="-566927" algn="just" defTabSz="425195">
              <a:lnSpc>
                <a:spcPct val="150000"/>
              </a:lnSpc>
              <a:spcBef>
                <a:spcPts val="1100"/>
              </a:spcBef>
              <a:buSzPct val="123000"/>
              <a:buChar char="•"/>
              <a:defRPr sz="4464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/>
              <a:t>Industries require a solution to </a:t>
            </a:r>
            <a:r>
              <a:t>quickly detect defective or incorrectly shaped products</a:t>
            </a:r>
            <a:r>
              <a:rPr b="0"/>
              <a:t>.</a:t>
            </a:r>
            <a:endParaRPr b="0"/>
          </a:p>
          <a:p>
            <a:pPr marL="566927" indent="-566927" algn="just" defTabSz="425195">
              <a:lnSpc>
                <a:spcPct val="150000"/>
              </a:lnSpc>
              <a:spcBef>
                <a:spcPts val="1100"/>
              </a:spcBef>
              <a:buSzPct val="123000"/>
              <a:buChar char="•"/>
              <a:defRPr sz="4464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0"/>
              <a:t>Therefore, a </a:t>
            </a:r>
            <a:r>
              <a:t>vision-based intelligent system</a:t>
            </a:r>
            <a:r>
              <a:rPr b="0"/>
              <a:t> is needed to </a:t>
            </a:r>
            <a:r>
              <a:t>automate product size and shape evaluation</a:t>
            </a:r>
            <a:r>
              <a:rPr b="0"/>
              <a:t> efficiently and reliably.</a:t>
            </a:r>
          </a:p>
        </p:txBody>
      </p:sp>
      <p:sp>
        <p:nvSpPr>
          <p:cNvPr id="207" name="Google Shape;109;g36bc379c7b1_0_566"/>
          <p:cNvSpPr txBox="1"/>
          <p:nvPr>
            <p:ph type="sldNum" sz="quarter" idx="4294967295"/>
          </p:nvPr>
        </p:nvSpPr>
        <p:spPr>
          <a:xfrm>
            <a:off x="12065098" y="13086200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14400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121;g36bc379c7b1_0_578"/>
          <p:cNvSpPr txBox="1"/>
          <p:nvPr>
            <p:ph type="title"/>
          </p:nvPr>
        </p:nvSpPr>
        <p:spPr>
          <a:xfrm>
            <a:off x="1206498" y="1079500"/>
            <a:ext cx="21971104" cy="1433101"/>
          </a:xfrm>
          <a:prstGeom prst="rect">
            <a:avLst/>
          </a:prstGeom>
        </p:spPr>
        <p:txBody>
          <a:bodyPr/>
          <a:lstStyle/>
          <a:p>
            <a:pPr/>
            <a:r>
              <a:t>System Architecture / Workflow</a:t>
            </a:r>
          </a:p>
        </p:txBody>
      </p:sp>
      <p:sp>
        <p:nvSpPr>
          <p:cNvPr id="210" name="Google Shape;122;g36bc379c7b1_0_578"/>
          <p:cNvSpPr txBox="1"/>
          <p:nvPr>
            <p:ph type="body" sz="half" idx="1"/>
          </p:nvPr>
        </p:nvSpPr>
        <p:spPr>
          <a:xfrm>
            <a:off x="1206448" y="2730000"/>
            <a:ext cx="11814376" cy="10138799"/>
          </a:xfrm>
          <a:prstGeom prst="rect">
            <a:avLst/>
          </a:prstGeom>
        </p:spPr>
        <p:txBody>
          <a:bodyPr lIns="50800" tIns="50800" rIns="50800" bIns="50800"/>
          <a:lstStyle/>
          <a:p>
            <a:pPr indent="0" defTabSz="393191">
              <a:defRPr b="0" sz="4100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93191" indent="-273050" defTabSz="393191">
              <a:spcBef>
                <a:spcPts val="1000"/>
              </a:spcBef>
              <a:buSzPct val="100000"/>
              <a:buFont typeface="Times Roman"/>
              <a:buChar char="•"/>
              <a:defRPr b="0" sz="4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 </a:t>
            </a:r>
            <a:r>
              <a:rPr b="1"/>
              <a:t>camera module</a:t>
            </a:r>
            <a:r>
              <a:t> captures the image of the product placed on the platform.</a:t>
            </a:r>
          </a:p>
          <a:p>
            <a:pPr marL="393191" indent="-273050" defTabSz="393191">
              <a:spcBef>
                <a:spcPts val="1000"/>
              </a:spcBef>
              <a:buSzPct val="100000"/>
              <a:buFont typeface="Times Roman"/>
              <a:buChar char="•"/>
              <a:defRPr b="0" sz="41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93191" indent="-273050" defTabSz="393191">
              <a:spcBef>
                <a:spcPts val="1000"/>
              </a:spcBef>
              <a:buSzPct val="100000"/>
              <a:buFont typeface="Times Roman"/>
              <a:buChar char="•"/>
              <a:defRPr b="0" sz="4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</a:t>
            </a:r>
            <a:r>
              <a:rPr b="1"/>
              <a:t>processing unit (ESP32 or computer)</a:t>
            </a:r>
            <a:r>
              <a:t> processes the image using image processing techniques.</a:t>
            </a:r>
          </a:p>
          <a:p>
            <a:pPr marL="393191" indent="-273050" defTabSz="393191">
              <a:spcBef>
                <a:spcPts val="1000"/>
              </a:spcBef>
              <a:buSzPct val="100000"/>
              <a:buFont typeface="Times Roman"/>
              <a:buChar char="•"/>
              <a:defRPr b="0" sz="41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93191" indent="-273050" defTabSz="393191">
              <a:spcBef>
                <a:spcPts val="1000"/>
              </a:spcBef>
              <a:buSzPct val="100000"/>
              <a:buFont typeface="Times Roman"/>
              <a:buChar char="•"/>
              <a:defRPr b="0" sz="4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system detects the shape and measures the size of the product.</a:t>
            </a:r>
          </a:p>
          <a:p>
            <a:pPr marL="393191" indent="-273050" defTabSz="393191">
              <a:spcBef>
                <a:spcPts val="1000"/>
              </a:spcBef>
              <a:buSzPct val="100000"/>
              <a:buFont typeface="Times Roman"/>
              <a:buChar char="•"/>
              <a:defRPr b="0" sz="41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393191" indent="-273050" defTabSz="393191">
              <a:spcBef>
                <a:spcPts val="1000"/>
              </a:spcBef>
              <a:buSzPct val="100000"/>
              <a:buFont typeface="Times Roman"/>
              <a:buChar char="•"/>
              <a:defRPr b="0" sz="41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</a:t>
            </a:r>
            <a:r>
              <a:rPr b="1"/>
              <a:t>result is displayed</a:t>
            </a:r>
            <a:r>
              <a:t> on an LCD or indicated using LED/Buzzer as Accept or Reject.</a:t>
            </a:r>
          </a:p>
        </p:txBody>
      </p:sp>
      <p:sp>
        <p:nvSpPr>
          <p:cNvPr id="211" name="Google Shape;123;g36bc379c7b1_0_578"/>
          <p:cNvSpPr txBox="1"/>
          <p:nvPr>
            <p:ph type="sldNum" sz="quarter" idx="4294967295"/>
          </p:nvPr>
        </p:nvSpPr>
        <p:spPr>
          <a:xfrm>
            <a:off x="12065098" y="13086200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14400"/>
          </a:lstStyle>
          <a:p>
            <a:pPr/>
            <a:fld id="{86CB4B4D-7CA3-9044-876B-883B54F8677D}" type="slidenum"/>
          </a:p>
        </p:txBody>
      </p:sp>
      <p:pic>
        <p:nvPicPr>
          <p:cNvPr id="21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350845" y="2562442"/>
            <a:ext cx="10473916" cy="104739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128;g36bc379c7b1_0_584"/>
          <p:cNvSpPr txBox="1"/>
          <p:nvPr>
            <p:ph type="title"/>
          </p:nvPr>
        </p:nvSpPr>
        <p:spPr>
          <a:xfrm>
            <a:off x="1118444" y="1560823"/>
            <a:ext cx="22147112" cy="2105987"/>
          </a:xfrm>
          <a:prstGeom prst="rect">
            <a:avLst/>
          </a:prstGeom>
        </p:spPr>
        <p:txBody>
          <a:bodyPr/>
          <a:lstStyle>
            <a:lvl1pPr defTabSz="832103"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Module 1: Image Acquisition Module</a:t>
            </a:r>
          </a:p>
        </p:txBody>
      </p:sp>
      <p:sp>
        <p:nvSpPr>
          <p:cNvPr id="215" name="Google Shape;129;g36bc379c7b1_0_584"/>
          <p:cNvSpPr txBox="1"/>
          <p:nvPr>
            <p:ph type="body" sz="half" idx="1"/>
          </p:nvPr>
        </p:nvSpPr>
        <p:spPr>
          <a:xfrm>
            <a:off x="1827469" y="4254780"/>
            <a:ext cx="20729062" cy="6120126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defTabSz="457200">
              <a:lnSpc>
                <a:spcPct val="150000"/>
              </a:lnSpc>
              <a:spcBef>
                <a:spcPts val="1200"/>
              </a:spcBef>
              <a:buClr>
                <a:srgbClr val="000000"/>
              </a:buClr>
              <a:buSzPct val="123000"/>
              <a:buChar char="•"/>
              <a:defRPr b="0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4800">
                <a:latin typeface="Times New Roman"/>
                <a:ea typeface="Times New Roman"/>
                <a:cs typeface="Times New Roman"/>
                <a:sym typeface="Times New Roman"/>
              </a:rPr>
              <a:t>This module captures the image of the product.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600" indent="-609600" defTabSz="457200">
              <a:lnSpc>
                <a:spcPct val="150000"/>
              </a:lnSpc>
              <a:spcBef>
                <a:spcPts val="1200"/>
              </a:spcBef>
              <a:buClr>
                <a:srgbClr val="000000"/>
              </a:buClr>
              <a:buSzPct val="123000"/>
              <a:buChar char="•"/>
              <a:defRPr b="0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4800">
                <a:latin typeface="Times New Roman"/>
                <a:ea typeface="Times New Roman"/>
                <a:cs typeface="Times New Roman"/>
                <a:sym typeface="Times New Roman"/>
              </a:rPr>
              <a:t>A camera or ESP32-CAM is used to take pictures.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600" indent="-609600" defTabSz="457200">
              <a:lnSpc>
                <a:spcPct val="150000"/>
              </a:lnSpc>
              <a:spcBef>
                <a:spcPts val="1200"/>
              </a:spcBef>
              <a:buClr>
                <a:srgbClr val="000000"/>
              </a:buClr>
              <a:buSzPct val="123000"/>
              <a:buChar char="•"/>
              <a:defRPr b="0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4800">
                <a:latin typeface="Times New Roman"/>
                <a:ea typeface="Times New Roman"/>
                <a:cs typeface="Times New Roman"/>
                <a:sym typeface="Times New Roman"/>
              </a:rPr>
              <a:t>The product is placed on a fixed platform.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600" indent="-609600" defTabSz="457200">
              <a:lnSpc>
                <a:spcPct val="150000"/>
              </a:lnSpc>
              <a:spcBef>
                <a:spcPts val="1200"/>
              </a:spcBef>
              <a:buClr>
                <a:srgbClr val="000000"/>
              </a:buClr>
              <a:buSzPct val="123000"/>
              <a:buChar char="•"/>
              <a:defRPr b="0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4800">
                <a:latin typeface="Times New Roman"/>
                <a:ea typeface="Times New Roman"/>
                <a:cs typeface="Times New Roman"/>
                <a:sym typeface="Times New Roman"/>
              </a:rPr>
              <a:t>The image is captured when the product is detected.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600" indent="-609600" algn="just" defTabSz="457200">
              <a:lnSpc>
                <a:spcPct val="150000"/>
              </a:lnSpc>
              <a:spcBef>
                <a:spcPts val="1200"/>
              </a:spcBef>
              <a:buClr>
                <a:srgbClr val="000000"/>
              </a:buClr>
              <a:buSzPct val="123000"/>
              <a:buChar char="•"/>
              <a:defRPr b="0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4800">
                <a:latin typeface="Times New Roman"/>
                <a:ea typeface="Times New Roman"/>
                <a:cs typeface="Times New Roman"/>
                <a:sym typeface="Times New Roman"/>
              </a:rPr>
              <a:t>The captured image is sent to the processing unit.</a:t>
            </a:r>
          </a:p>
        </p:txBody>
      </p:sp>
      <p:sp>
        <p:nvSpPr>
          <p:cNvPr id="216" name="Google Shape;130;g36bc379c7b1_0_584"/>
          <p:cNvSpPr txBox="1"/>
          <p:nvPr>
            <p:ph type="sldNum" sz="quarter" idx="4294967295"/>
          </p:nvPr>
        </p:nvSpPr>
        <p:spPr>
          <a:xfrm>
            <a:off x="12065098" y="13086200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14400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149;g36bc379c7b1_0_602"/>
          <p:cNvSpPr txBox="1"/>
          <p:nvPr>
            <p:ph type="title"/>
          </p:nvPr>
        </p:nvSpPr>
        <p:spPr>
          <a:xfrm>
            <a:off x="1206448" y="1736211"/>
            <a:ext cx="21971104" cy="1433102"/>
          </a:xfrm>
          <a:prstGeom prst="rect">
            <a:avLst/>
          </a:prstGeom>
        </p:spPr>
        <p:txBody>
          <a:bodyPr/>
          <a:lstStyle/>
          <a:p>
            <a:pPr/>
            <a:r>
              <a:t>Module 2: Image Pre-Processing Module</a:t>
            </a:r>
          </a:p>
        </p:txBody>
      </p:sp>
      <p:sp>
        <p:nvSpPr>
          <p:cNvPr id="219" name="Google Shape;150;g36bc379c7b1_0_602"/>
          <p:cNvSpPr txBox="1"/>
          <p:nvPr>
            <p:ph type="body" idx="1"/>
          </p:nvPr>
        </p:nvSpPr>
        <p:spPr>
          <a:xfrm>
            <a:off x="1874258" y="4232696"/>
            <a:ext cx="20635484" cy="7020874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algn="just" defTabSz="457200">
              <a:lnSpc>
                <a:spcPct val="150000"/>
              </a:lnSpc>
              <a:spcBef>
                <a:spcPts val="1200"/>
              </a:spcBef>
              <a:buSzPct val="123000"/>
              <a:buChar char="•"/>
              <a:defRPr b="0" sz="4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module prepares the image for analysis.</a:t>
            </a:r>
          </a:p>
          <a:p>
            <a:pPr marL="609600" indent="-609600" algn="just" defTabSz="457200">
              <a:lnSpc>
                <a:spcPct val="150000"/>
              </a:lnSpc>
              <a:spcBef>
                <a:spcPts val="1200"/>
              </a:spcBef>
              <a:buSzPct val="123000"/>
              <a:buChar char="•"/>
              <a:defRPr b="0" sz="4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image is converted to grayscale.</a:t>
            </a:r>
          </a:p>
          <a:p>
            <a:pPr marL="609600" indent="-609600" algn="just" defTabSz="457200">
              <a:lnSpc>
                <a:spcPct val="150000"/>
              </a:lnSpc>
              <a:spcBef>
                <a:spcPts val="1200"/>
              </a:spcBef>
              <a:buSzPct val="123000"/>
              <a:buChar char="•"/>
              <a:defRPr b="0" sz="4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Noise and unwanted details are removed.</a:t>
            </a:r>
          </a:p>
          <a:p>
            <a:pPr marL="609600" indent="-609600" algn="just" defTabSz="457200">
              <a:lnSpc>
                <a:spcPct val="150000"/>
              </a:lnSpc>
              <a:spcBef>
                <a:spcPts val="1200"/>
              </a:spcBef>
              <a:buSzPct val="123000"/>
              <a:buChar char="•"/>
              <a:defRPr b="0" sz="4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Edges of the object are detected.</a:t>
            </a:r>
          </a:p>
          <a:p>
            <a:pPr marL="609600" indent="-609600" algn="just" defTabSz="457200">
              <a:lnSpc>
                <a:spcPct val="150000"/>
              </a:lnSpc>
              <a:spcBef>
                <a:spcPts val="1200"/>
              </a:spcBef>
              <a:buSzPct val="123000"/>
              <a:buChar char="•"/>
              <a:defRPr b="0" sz="4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processed image is sent for shape detection.</a:t>
            </a:r>
          </a:p>
        </p:txBody>
      </p:sp>
      <p:sp>
        <p:nvSpPr>
          <p:cNvPr id="220" name="Google Shape;151;g36bc379c7b1_0_602"/>
          <p:cNvSpPr txBox="1"/>
          <p:nvPr>
            <p:ph type="sldNum" sz="quarter" idx="4294967295"/>
          </p:nvPr>
        </p:nvSpPr>
        <p:spPr>
          <a:xfrm>
            <a:off x="12065098" y="13086200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14400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149;g36bc379c7b1_0_602"/>
          <p:cNvSpPr txBox="1"/>
          <p:nvPr>
            <p:ph type="title"/>
          </p:nvPr>
        </p:nvSpPr>
        <p:spPr>
          <a:xfrm>
            <a:off x="1206448" y="1736211"/>
            <a:ext cx="21971104" cy="1433102"/>
          </a:xfrm>
          <a:prstGeom prst="rect">
            <a:avLst/>
          </a:prstGeom>
        </p:spPr>
        <p:txBody>
          <a:bodyPr/>
          <a:lstStyle/>
          <a:p>
            <a:pPr/>
            <a:r>
              <a:t>Module 3: Shape Detection Module</a:t>
            </a:r>
          </a:p>
        </p:txBody>
      </p:sp>
      <p:sp>
        <p:nvSpPr>
          <p:cNvPr id="223" name="Google Shape;150;g36bc379c7b1_0_602"/>
          <p:cNvSpPr txBox="1"/>
          <p:nvPr>
            <p:ph type="body" idx="1"/>
          </p:nvPr>
        </p:nvSpPr>
        <p:spPr>
          <a:xfrm>
            <a:off x="1874258" y="4126516"/>
            <a:ext cx="20635484" cy="7119024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algn="just" defTabSz="457200">
              <a:lnSpc>
                <a:spcPct val="150000"/>
              </a:lnSpc>
              <a:spcBef>
                <a:spcPts val="1200"/>
              </a:spcBef>
              <a:buSzPct val="123000"/>
              <a:buChar char="•"/>
              <a:defRPr b="0" sz="4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module identifies the shape of the product.</a:t>
            </a:r>
          </a:p>
          <a:p>
            <a:pPr marL="609600" indent="-609600" algn="just" defTabSz="457200">
              <a:lnSpc>
                <a:spcPct val="150000"/>
              </a:lnSpc>
              <a:spcBef>
                <a:spcPts val="1200"/>
              </a:spcBef>
              <a:buSzPct val="123000"/>
              <a:buChar char="•"/>
              <a:defRPr b="0" sz="4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detects the boundary (contours) of the object.</a:t>
            </a:r>
          </a:p>
          <a:p>
            <a:pPr marL="609600" indent="-609600" algn="just" defTabSz="457200">
              <a:lnSpc>
                <a:spcPct val="150000"/>
              </a:lnSpc>
              <a:spcBef>
                <a:spcPts val="1200"/>
              </a:spcBef>
              <a:buSzPct val="123000"/>
              <a:buChar char="•"/>
              <a:defRPr b="0" sz="4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number of sides is calculated.</a:t>
            </a:r>
          </a:p>
          <a:p>
            <a:pPr marL="609600" indent="-609600" algn="just" defTabSz="457200">
              <a:lnSpc>
                <a:spcPct val="150000"/>
              </a:lnSpc>
              <a:spcBef>
                <a:spcPts val="1200"/>
              </a:spcBef>
              <a:buSzPct val="123000"/>
              <a:buChar char="•"/>
              <a:defRPr b="0" sz="4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Shapes like circle, square, or rectangle are recognized.</a:t>
            </a:r>
          </a:p>
          <a:p>
            <a:pPr marL="609600" indent="-609600" algn="just" defTabSz="457200">
              <a:lnSpc>
                <a:spcPct val="150000"/>
              </a:lnSpc>
              <a:spcBef>
                <a:spcPts val="1200"/>
              </a:spcBef>
              <a:buSzPct val="123000"/>
              <a:buChar char="•"/>
              <a:defRPr b="0" sz="4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detected shape is passed to the next module.</a:t>
            </a:r>
          </a:p>
        </p:txBody>
      </p:sp>
      <p:sp>
        <p:nvSpPr>
          <p:cNvPr id="224" name="Google Shape;151;g36bc379c7b1_0_602"/>
          <p:cNvSpPr txBox="1"/>
          <p:nvPr>
            <p:ph type="sldNum" sz="quarter" idx="4294967295"/>
          </p:nvPr>
        </p:nvSpPr>
        <p:spPr>
          <a:xfrm>
            <a:off x="12065098" y="13086200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14400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149;g36bc379c7b1_0_602"/>
          <p:cNvSpPr txBox="1"/>
          <p:nvPr>
            <p:ph type="title"/>
          </p:nvPr>
        </p:nvSpPr>
        <p:spPr>
          <a:xfrm>
            <a:off x="1206448" y="1736211"/>
            <a:ext cx="21971104" cy="1433102"/>
          </a:xfrm>
          <a:prstGeom prst="rect">
            <a:avLst/>
          </a:prstGeom>
        </p:spPr>
        <p:txBody>
          <a:bodyPr/>
          <a:lstStyle/>
          <a:p>
            <a:pPr/>
            <a:r>
              <a:t>Module 4: Size Measurement Module</a:t>
            </a:r>
          </a:p>
        </p:txBody>
      </p:sp>
      <p:sp>
        <p:nvSpPr>
          <p:cNvPr id="227" name="Google Shape;150;g36bc379c7b1_0_602"/>
          <p:cNvSpPr txBox="1"/>
          <p:nvPr>
            <p:ph type="body" idx="1"/>
          </p:nvPr>
        </p:nvSpPr>
        <p:spPr>
          <a:xfrm>
            <a:off x="1874258" y="4145868"/>
            <a:ext cx="20635484" cy="6623478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algn="just" defTabSz="457200">
              <a:lnSpc>
                <a:spcPct val="150000"/>
              </a:lnSpc>
              <a:spcBef>
                <a:spcPts val="1200"/>
              </a:spcBef>
              <a:buSzPct val="123000"/>
              <a:buChar char="•"/>
              <a:defRPr b="0" sz="4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module measures the size of the product.</a:t>
            </a:r>
          </a:p>
          <a:p>
            <a:pPr marL="609600" indent="-609600" algn="just" defTabSz="457200">
              <a:lnSpc>
                <a:spcPct val="150000"/>
              </a:lnSpc>
              <a:spcBef>
                <a:spcPts val="1200"/>
              </a:spcBef>
              <a:buSzPct val="123000"/>
              <a:buChar char="•"/>
              <a:defRPr b="0" sz="4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Object dimensions are calculated in pixels.</a:t>
            </a:r>
          </a:p>
          <a:p>
            <a:pPr marL="609600" indent="-609600" algn="just" defTabSz="457200">
              <a:lnSpc>
                <a:spcPct val="150000"/>
              </a:lnSpc>
              <a:spcBef>
                <a:spcPts val="1200"/>
              </a:spcBef>
              <a:buSzPct val="123000"/>
              <a:buChar char="•"/>
              <a:defRPr b="0" sz="4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Pixels are converted into real units (cm).</a:t>
            </a:r>
          </a:p>
          <a:p>
            <a:pPr marL="609600" indent="-609600" algn="just" defTabSz="457200">
              <a:lnSpc>
                <a:spcPct val="150000"/>
              </a:lnSpc>
              <a:spcBef>
                <a:spcPts val="1200"/>
              </a:spcBef>
              <a:buSzPct val="123000"/>
              <a:buChar char="•"/>
              <a:defRPr b="0" sz="4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measured size is compared with standard values.</a:t>
            </a:r>
          </a:p>
          <a:p>
            <a:pPr marL="609600" indent="-609600" algn="just" defTabSz="457200">
              <a:lnSpc>
                <a:spcPct val="150000"/>
              </a:lnSpc>
              <a:spcBef>
                <a:spcPts val="1200"/>
              </a:spcBef>
              <a:buSzPct val="123000"/>
              <a:buChar char="•"/>
              <a:defRPr b="0" sz="4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result is sent to the decision module.</a:t>
            </a:r>
          </a:p>
        </p:txBody>
      </p:sp>
      <p:sp>
        <p:nvSpPr>
          <p:cNvPr id="228" name="Google Shape;151;g36bc379c7b1_0_602"/>
          <p:cNvSpPr txBox="1"/>
          <p:nvPr>
            <p:ph type="sldNum" sz="quarter" idx="4294967295"/>
          </p:nvPr>
        </p:nvSpPr>
        <p:spPr>
          <a:xfrm>
            <a:off x="12065098" y="13086200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14400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149;g36bc379c7b1_0_602"/>
          <p:cNvSpPr txBox="1"/>
          <p:nvPr>
            <p:ph type="title"/>
          </p:nvPr>
        </p:nvSpPr>
        <p:spPr>
          <a:xfrm>
            <a:off x="1206448" y="1736211"/>
            <a:ext cx="21971104" cy="1433102"/>
          </a:xfrm>
          <a:prstGeom prst="rect">
            <a:avLst/>
          </a:prstGeom>
        </p:spPr>
        <p:txBody>
          <a:bodyPr/>
          <a:lstStyle/>
          <a:p>
            <a:pPr/>
            <a:r>
              <a:t>Module 5: Display and Decision Module</a:t>
            </a:r>
          </a:p>
        </p:txBody>
      </p:sp>
      <p:sp>
        <p:nvSpPr>
          <p:cNvPr id="231" name="Google Shape;150;g36bc379c7b1_0_602"/>
          <p:cNvSpPr txBox="1"/>
          <p:nvPr>
            <p:ph type="body" sz="half" idx="1"/>
          </p:nvPr>
        </p:nvSpPr>
        <p:spPr>
          <a:xfrm>
            <a:off x="1874258" y="4313835"/>
            <a:ext cx="20635484" cy="6368958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9600" indent="-609600" algn="just" defTabSz="457200">
              <a:lnSpc>
                <a:spcPct val="150000"/>
              </a:lnSpc>
              <a:spcBef>
                <a:spcPts val="1200"/>
              </a:spcBef>
              <a:buSzPct val="123000"/>
              <a:buChar char="•"/>
              <a:defRPr b="0" sz="4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module decides whether the product is acceptable or not.</a:t>
            </a:r>
          </a:p>
          <a:p>
            <a:pPr marL="609600" indent="-609600" algn="just" defTabSz="457200">
              <a:lnSpc>
                <a:spcPct val="150000"/>
              </a:lnSpc>
              <a:spcBef>
                <a:spcPts val="1200"/>
              </a:spcBef>
              <a:buSzPct val="123000"/>
              <a:buChar char="•"/>
              <a:defRPr b="0" sz="4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Size and shape results are displayed.</a:t>
            </a:r>
          </a:p>
          <a:p>
            <a:pPr marL="609600" indent="-609600" algn="just" defTabSz="457200">
              <a:lnSpc>
                <a:spcPct val="150000"/>
              </a:lnSpc>
              <a:spcBef>
                <a:spcPts val="1200"/>
              </a:spcBef>
              <a:buSzPct val="123000"/>
              <a:buChar char="•"/>
              <a:defRPr b="0" sz="4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Accept or Reject status is shown.</a:t>
            </a:r>
          </a:p>
          <a:p>
            <a:pPr marL="609600" indent="-609600" algn="just" defTabSz="457200">
              <a:lnSpc>
                <a:spcPct val="150000"/>
              </a:lnSpc>
              <a:spcBef>
                <a:spcPts val="1200"/>
              </a:spcBef>
              <a:buSzPct val="123000"/>
              <a:buChar char="•"/>
              <a:defRPr b="0" sz="4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LED or buzzer can be used for indication.</a:t>
            </a:r>
          </a:p>
          <a:p>
            <a:pPr marL="609600" indent="-609600" algn="just" defTabSz="457200">
              <a:lnSpc>
                <a:spcPct val="150000"/>
              </a:lnSpc>
              <a:spcBef>
                <a:spcPts val="1200"/>
              </a:spcBef>
              <a:buSzPct val="123000"/>
              <a:buChar char="•"/>
              <a:defRPr b="0" sz="4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final inspection result is provided to the user.</a:t>
            </a:r>
          </a:p>
        </p:txBody>
      </p:sp>
      <p:sp>
        <p:nvSpPr>
          <p:cNvPr id="232" name="Google Shape;151;g36bc379c7b1_0_602"/>
          <p:cNvSpPr txBox="1"/>
          <p:nvPr>
            <p:ph type="sldNum" sz="quarter" idx="4294967295"/>
          </p:nvPr>
        </p:nvSpPr>
        <p:spPr>
          <a:xfrm>
            <a:off x="12065098" y="13086200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14400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192;g36bc379c7b1_0_639"/>
          <p:cNvSpPr txBox="1"/>
          <p:nvPr>
            <p:ph type="sldNum" sz="quarter" idx="4294967295"/>
          </p:nvPr>
        </p:nvSpPr>
        <p:spPr>
          <a:xfrm>
            <a:off x="12001448" y="13086200"/>
            <a:ext cx="368504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14400"/>
          </a:lstStyle>
          <a:p>
            <a:pPr/>
            <a:fld id="{86CB4B4D-7CA3-9044-876B-883B54F8677D}" type="slidenum"/>
          </a:p>
        </p:txBody>
      </p:sp>
      <p:pic>
        <p:nvPicPr>
          <p:cNvPr id="23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00236" y="2472166"/>
            <a:ext cx="12383528" cy="87716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